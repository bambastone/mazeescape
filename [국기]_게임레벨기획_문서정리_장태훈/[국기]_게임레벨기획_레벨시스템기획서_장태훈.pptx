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wdp" ContentType="image/vnd.ms-photo"/>
  <Override PartName="/ppt/embeddings/oleObject2.wdp" ContentType="image/vnd.ms-photo"/>
  <Override PartName="/ppt/embeddings/oleObject3.wdp" ContentType="image/vnd.ms-photo"/>
  <Override PartName="/ppt/embeddings/oleObject4.wdp" ContentType="image/vnd.ms-photo"/>
  <Override PartName="/ppt/embeddings/oleObject5.wdp" ContentType="image/vnd.ms-photo"/>
  <Override PartName="/ppt/embeddings/oleObject6.wdp" ContentType="image/vnd.ms-photo"/>
  <Override PartName="/ppt/embeddings/oleObject7.wdp" ContentType="image/vnd.ms-photo"/>
  <Override PartName="/ppt/embeddings/oleObject8.wdp" ContentType="image/vnd.ms-photo"/>
  <Override PartName="/ppt/embeddings/oleObject9.wdp" ContentType="image/vnd.ms-photo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67" r:id="rId5"/>
    <p:sldId id="309" r:id="rId6"/>
    <p:sldId id="311" r:id="rId7"/>
    <p:sldId id="310" r:id="rId8"/>
    <p:sldId id="312" r:id="rId9"/>
    <p:sldId id="308" r:id="rId10"/>
    <p:sldId id="314" r:id="rId11"/>
    <p:sldId id="315" r:id="rId12"/>
    <p:sldId id="316" r:id="rId13"/>
    <p:sldId id="313" r:id="rId14"/>
    <p:sldId id="307" r:id="rId15"/>
  </p:sldIdLst>
  <p:sldSz cx="18288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1473" autoAdjust="0"/>
  </p:normalViewPr>
  <p:slideViewPr>
    <p:cSldViewPr>
      <p:cViewPr>
        <p:scale>
          <a:sx n="60" d="100"/>
          <a:sy n="60" d="100"/>
        </p:scale>
        <p:origin x="126" y="660"/>
      </p:cViewPr>
      <p:guideLst>
        <p:guide orient="horz" pos="2158"/>
        <p:guide pos="2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6864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6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4406901"/>
            <a:ext cx="58293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2906713"/>
            <a:ext cx="58293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1"/>
            <a:ext cx="302895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1"/>
            <a:ext cx="302895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1535113"/>
            <a:ext cx="303133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174875"/>
            <a:ext cx="303133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1"/>
            <a:ext cx="3833813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1"/>
            <a:ext cx="225623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9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9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1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1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1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1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microsoft.com/office/2007/relationships/hdphoto" Target="../embeddings/oleObject1.wdp"  /><Relationship Id="rId4" Type="http://schemas.openxmlformats.org/officeDocument/2006/relationships/image" Target="../media/image2.png"  /><Relationship Id="rId5" Type="http://schemas.microsoft.com/office/2007/relationships/hdphoto" Target="../embeddings/oleObject2.wdp"  /><Relationship Id="rId6" Type="http://schemas.openxmlformats.org/officeDocument/2006/relationships/image" Target="../media/image3.png"  /><Relationship Id="rId7" Type="http://schemas.microsoft.com/office/2007/relationships/hdphoto" Target="../embeddings/oleObject3.wdp"  /><Relationship Id="rId8" Type="http://schemas.openxmlformats.org/officeDocument/2006/relationships/image" Target="../media/image4.png"  /><Relationship Id="rId9" Type="http://schemas.microsoft.com/office/2007/relationships/hdphoto" Target="../embeddings/oleObject4.wdp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9.png"  /><Relationship Id="rId11" Type="http://schemas.microsoft.com/office/2007/relationships/hdphoto" Target="../embeddings/oleObject9.wdp"  /><Relationship Id="rId2" Type="http://schemas.openxmlformats.org/officeDocument/2006/relationships/image" Target="../media/image5.png"  /><Relationship Id="rId3" Type="http://schemas.microsoft.com/office/2007/relationships/hdphoto" Target="../embeddings/oleObject5.wdp"  /><Relationship Id="rId4" Type="http://schemas.openxmlformats.org/officeDocument/2006/relationships/image" Target="../media/image6.png"  /><Relationship Id="rId5" Type="http://schemas.microsoft.com/office/2007/relationships/hdphoto" Target="../embeddings/oleObject6.wdp"  /><Relationship Id="rId6" Type="http://schemas.openxmlformats.org/officeDocument/2006/relationships/image" Target="../media/image7.png"  /><Relationship Id="rId7" Type="http://schemas.microsoft.com/office/2007/relationships/hdphoto" Target="../embeddings/oleObject7.wdp"  /><Relationship Id="rId8" Type="http://schemas.openxmlformats.org/officeDocument/2006/relationships/image" Target="../media/image8.png"  /><Relationship Id="rId9" Type="http://schemas.microsoft.com/office/2007/relationships/hdphoto" Target="../embeddings/oleObject8.wdp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Relationship Id="rId3" Type="http://schemas.openxmlformats.org/officeDocument/2006/relationships/image" Target="../media/image12.png"  /><Relationship Id="rId4" Type="http://schemas.openxmlformats.org/officeDocument/2006/relationships/image" Target="../media/image1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Relationship Id="rId3" Type="http://schemas.openxmlformats.org/officeDocument/2006/relationships/image" Target="../media/image10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4.png"  /><Relationship Id="rId3" Type="http://schemas.openxmlformats.org/officeDocument/2006/relationships/image" Target="../media/image15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4.png"  /><Relationship Id="rId3" Type="http://schemas.openxmlformats.org/officeDocument/2006/relationships/image" Target="../media/image13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4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Relationship Id="rId3" Type="http://schemas.openxmlformats.org/officeDocument/2006/relationships/image" Target="../media/image17.png"  /><Relationship Id="rId4" Type="http://schemas.openxmlformats.org/officeDocument/2006/relationships/image" Target="../media/image18.png"  /><Relationship Id="rId5" Type="http://schemas.openxmlformats.org/officeDocument/2006/relationships/image" Target="../media/image19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7900" y="3648075"/>
            <a:ext cx="6172200" cy="64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alphaModFix amt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43050" y="581025"/>
            <a:ext cx="5553075" cy="5953125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alphaModFix amt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92250" y="838200"/>
            <a:ext cx="9810750" cy="991552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42925" y="8629650"/>
            <a:ext cx="4057650" cy="39909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99488" y="6072485"/>
            <a:ext cx="5897768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7200" dirty="0">
                <a:solidFill>
                  <a:schemeClr val="bg1"/>
                </a:solidFill>
                <a:latin typeface="양재블럭체" panose="02020603020101020101" pitchFamily="18" charset="-127"/>
                <a:ea typeface="양재블럭체" panose="02020603020101020101" pitchFamily="18" charset="-127"/>
              </a:rPr>
              <a:t>MazeEscape</a:t>
            </a:r>
            <a:endParaRPr lang="ko-KR" altLang="en-US" sz="7200" dirty="0">
              <a:solidFill>
                <a:schemeClr val="bg1"/>
              </a:solidFill>
              <a:latin typeface="양재블럭체" panose="02020603020101020101" pitchFamily="18" charset="-127"/>
              <a:ea typeface="양재블럭체" panose="02020603020101020101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95060" y="7307580"/>
            <a:ext cx="5935980" cy="91059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lvl="0" algn="ctr">
              <a:defRPr/>
            </a:pPr>
            <a:r>
              <a:rPr lang="ko-KR" altLang="en-US" sz="5400">
                <a:solidFill>
                  <a:schemeClr val="bg1"/>
                </a:solidFill>
                <a:latin typeface="양재블럭체"/>
                <a:ea typeface="양재블럭체"/>
              </a:rPr>
              <a:t>레벨시스템 기획서</a:t>
            </a:r>
            <a:endParaRPr lang="ko-KR" altLang="en-US" sz="5400">
              <a:solidFill>
                <a:schemeClr val="bg1"/>
              </a:solidFill>
              <a:latin typeface="양재블럭체"/>
              <a:ea typeface="양재블럭체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18722" y="10752680"/>
            <a:ext cx="2050562" cy="92333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dirty="0" err="1">
                <a:solidFill>
                  <a:schemeClr val="bg1"/>
                </a:solidFill>
                <a:latin typeface="휴먼고딕" panose="02010504000101010101" pitchFamily="2" charset="-127"/>
                <a:ea typeface="휴먼고딕" panose="02010504000101010101" pitchFamily="2" charset="-127"/>
              </a:rPr>
              <a:t>장태훈</a:t>
            </a:r>
            <a:endParaRPr lang="en-US" altLang="ko-KR" dirty="0">
              <a:solidFill>
                <a:schemeClr val="bg1"/>
              </a:solidFill>
              <a:latin typeface="휴먼고딕" panose="02010504000101010101" pitchFamily="2" charset="-127"/>
              <a:ea typeface="휴먼고딕" panose="02010504000101010101" pitchFamily="2" charset="-127"/>
            </a:endParaRPr>
          </a:p>
          <a:p>
            <a:pPr algn="ctr"/>
            <a:r>
              <a:rPr lang="en-US" altLang="ko-KR" dirty="0">
                <a:solidFill>
                  <a:schemeClr val="bg1"/>
                </a:solidFill>
                <a:latin typeface="휴먼고딕" panose="02010504000101010101" pitchFamily="2" charset="-127"/>
                <a:ea typeface="휴먼고딕" panose="02010504000101010101" pitchFamily="2" charset="-127"/>
              </a:rPr>
              <a:t>jth7296@gmail.com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  <a:latin typeface="휴먼고딕" panose="02010504000101010101" pitchFamily="2" charset="-127"/>
                <a:ea typeface="휴먼고딕" panose="02010504000101010101" pitchFamily="2" charset="-127"/>
              </a:rPr>
              <a:t>010-5760-4245</a:t>
            </a:r>
            <a:endParaRPr lang="ko-KR" altLang="en-US" dirty="0">
              <a:solidFill>
                <a:schemeClr val="bg1"/>
              </a:solidFill>
              <a:latin typeface="휴먼고딕" panose="02010504000101010101" pitchFamily="2" charset="-127"/>
              <a:ea typeface="휴먼고딕" panose="02010504000101010101" pitchFamily="2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-13500000">
            <a:off x="8839200" y="5048250"/>
            <a:ext cx="619125" cy="66675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462838" y="4222523"/>
            <a:ext cx="3371850" cy="3810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6245"/>
              </a:lnSpc>
            </a:pPr>
            <a:r>
              <a:rPr lang="en" sz="2137" dirty="0">
                <a:solidFill>
                  <a:schemeClr val="bg1"/>
                </a:solidFill>
                <a:latin typeface="Calibri" panose="020F0502020204030204" pitchFamily="34" charset="0"/>
                <a:ea typeface="양재블럭체" panose="02020603020101020101" pitchFamily="18" charset="-127"/>
                <a:cs typeface="Calibri" panose="020F0502020204030204" pitchFamily="34" charset="0"/>
              </a:rPr>
              <a:t>I N D E X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91175" y="5838825"/>
            <a:ext cx="7105650" cy="3943350"/>
          </a:xfrm>
          <a:prstGeom prst="rect">
            <a:avLst/>
          </a:prstGeom>
        </p:spPr>
        <p:txBody>
          <a:bodyPr anchor="ctr"/>
          <a:lstStyle/>
          <a:p>
            <a:pPr lvl="0" algn="ctr">
              <a:lnSpc>
                <a:spcPct val="191315"/>
              </a:lnSpc>
              <a:defRPr/>
            </a:pPr>
            <a:r>
              <a:rPr lang="ko-KR" altLang="en-US" sz="2399" spc="480">
                <a:solidFill>
                  <a:schemeClr val="bg1"/>
                </a:solidFill>
                <a:latin typeface="SunBatang Light"/>
              </a:rPr>
              <a:t>주요 시스템</a:t>
            </a:r>
            <a:endParaRPr lang="ko-KR" altLang="en-US" sz="2399" spc="480">
              <a:solidFill>
                <a:schemeClr val="bg1"/>
              </a:solidFill>
              <a:latin typeface="SunBatang Light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-10800000">
            <a:off x="8943975" y="10525125"/>
            <a:ext cx="400050" cy="66675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alphaModFix amt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43050" y="581025"/>
            <a:ext cx="5553075" cy="595312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92250" y="838200"/>
            <a:ext cx="9810750" cy="9915525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>
            <a:alphaModFix amt="75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42925" y="8629650"/>
            <a:ext cx="4057650" cy="399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1208" y="2350638"/>
            <a:ext cx="4945585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6000" dirty="0">
                <a:solidFill>
                  <a:schemeClr val="bg1"/>
                </a:solidFill>
                <a:latin typeface="양재블럭체" panose="02020603020101020101" pitchFamily="18" charset="-127"/>
                <a:ea typeface="양재블럭체" panose="02020603020101020101" pitchFamily="18" charset="-127"/>
              </a:rPr>
              <a:t>MazeEscape</a:t>
            </a:r>
            <a:endParaRPr lang="ko-KR" altLang="en-US" sz="6000" dirty="0">
              <a:solidFill>
                <a:schemeClr val="bg1"/>
              </a:solidFill>
              <a:latin typeface="양재블럭체" panose="02020603020101020101" pitchFamily="18" charset="-127"/>
              <a:ea typeface="양재블럭체" panose="0202060302010102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95209" y="3097530"/>
            <a:ext cx="3497580" cy="91059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lvl="0" algn="ctr">
              <a:defRPr/>
            </a:pPr>
            <a:r>
              <a:rPr lang="ko-KR" altLang="en-US" sz="3000">
                <a:solidFill>
                  <a:schemeClr val="bg1"/>
                </a:solidFill>
                <a:latin typeface="양재블럭체"/>
                <a:ea typeface="양재블럭체"/>
              </a:rPr>
              <a:t>레벨시스템</a:t>
            </a:r>
            <a:r>
              <a:rPr lang="ko-KR" altLang="en-US" sz="5400">
                <a:solidFill>
                  <a:schemeClr val="bg1"/>
                </a:solidFill>
                <a:latin typeface="양재블럭체"/>
                <a:ea typeface="양재블럭체"/>
              </a:rPr>
              <a:t> </a:t>
            </a:r>
            <a:r>
              <a:rPr lang="ko-KR" altLang="en-US" sz="3000">
                <a:solidFill>
                  <a:schemeClr val="bg1"/>
                </a:solidFill>
                <a:latin typeface="양재블럭체"/>
                <a:ea typeface="양재블럭체"/>
              </a:rPr>
              <a:t>기획서</a:t>
            </a:r>
            <a:endParaRPr lang="ko-KR" altLang="en-US" sz="3000">
              <a:solidFill>
                <a:schemeClr val="bg1"/>
              </a:solidFill>
              <a:latin typeface="양재블럭체"/>
              <a:ea typeface="양재블럭체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 txBox="1"/>
          <p:nvPr/>
        </p:nvSpPr>
        <p:spPr>
          <a:xfrm>
            <a:off x="-228600" y="6172200"/>
            <a:ext cx="3479393" cy="1371600"/>
          </a:xfrm>
          <a:prstGeom prst="rect">
            <a:avLst/>
          </a:prstGeom>
        </p:spPr>
        <p:txBody>
          <a:bodyPr anchor="ctr"/>
          <a:lstStyle/>
          <a:p>
            <a:pPr lvl="0" algn="ctr">
              <a:defRPr/>
            </a:pPr>
            <a:r>
              <a:rPr lang="ko-KR" altLang="en-US" sz="7200" spc="480">
                <a:solidFill>
                  <a:schemeClr val="bg1"/>
                </a:solidFill>
                <a:latin typeface="SunBatang Light"/>
              </a:rPr>
              <a:t>주요</a:t>
            </a:r>
            <a:endParaRPr lang="ko-KR" altLang="en-US" sz="7200" spc="480">
              <a:solidFill>
                <a:schemeClr val="bg1"/>
              </a:solidFill>
              <a:latin typeface="SunBatang Light"/>
            </a:endParaRPr>
          </a:p>
          <a:p>
            <a:pPr lvl="0" algn="ctr">
              <a:defRPr/>
            </a:pPr>
            <a:r>
              <a:rPr lang="ko-KR" altLang="en-US" sz="7200" spc="480">
                <a:solidFill>
                  <a:schemeClr val="bg1"/>
                </a:solidFill>
                <a:latin typeface="SunBatang Light"/>
              </a:rPr>
              <a:t>시스템</a:t>
            </a:r>
            <a:endParaRPr lang="ko-KR" altLang="en-US" sz="7200" spc="480">
              <a:solidFill>
                <a:schemeClr val="bg1"/>
              </a:solidFill>
              <a:latin typeface="SunBatang Light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-5909978" y="-499778"/>
            <a:ext cx="14707740" cy="14707740"/>
          </a:xfrm>
          <a:prstGeom prst="ellipse">
            <a:avLst/>
          </a:prstGeom>
          <a:noFill/>
          <a:ln w="3175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1" name="타원 10"/>
          <p:cNvSpPr/>
          <p:nvPr/>
        </p:nvSpPr>
        <p:spPr>
          <a:xfrm>
            <a:off x="-1915011" y="3495189"/>
            <a:ext cx="6717807" cy="6717807"/>
          </a:xfrm>
          <a:prstGeom prst="ellipse">
            <a:avLst/>
          </a:prstGeom>
          <a:noFill/>
          <a:ln w="317500">
            <a:solidFill>
              <a:schemeClr val="bg1">
                <a:alpha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5" name="타원 14"/>
          <p:cNvSpPr/>
          <p:nvPr/>
        </p:nvSpPr>
        <p:spPr>
          <a:xfrm>
            <a:off x="-1114911" y="4295289"/>
            <a:ext cx="5117607" cy="5117607"/>
          </a:xfrm>
          <a:prstGeom prst="ellipse">
            <a:avLst/>
          </a:prstGeom>
          <a:noFill/>
          <a:ln w="317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6" name="타원 15"/>
          <p:cNvSpPr/>
          <p:nvPr/>
        </p:nvSpPr>
        <p:spPr>
          <a:xfrm>
            <a:off x="-11430000" y="-6019800"/>
            <a:ext cx="25747785" cy="25747785"/>
          </a:xfrm>
          <a:prstGeom prst="ellipse">
            <a:avLst/>
          </a:prstGeom>
          <a:noFill/>
          <a:ln w="31750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8" name="TextBox 4"/>
          <p:cNvSpPr txBox="1"/>
          <p:nvPr/>
        </p:nvSpPr>
        <p:spPr>
          <a:xfrm>
            <a:off x="9144000" y="5257800"/>
            <a:ext cx="4495800" cy="96959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 tIns="179999" bIns="179999" anchor="ctr" anchorCtr="0">
            <a:spAutoFit/>
          </a:bodyPr>
          <a:lstStyle/>
          <a:p>
            <a:pPr lvl="0" algn="ctr">
              <a:defRPr/>
            </a:pPr>
            <a:r>
              <a:rPr lang="en-US" altLang="ko-KR" sz="4000" spc="480">
                <a:solidFill>
                  <a:schemeClr val="bg1"/>
                </a:solidFill>
                <a:latin typeface="SunBatang Light"/>
              </a:rPr>
              <a:t>1. </a:t>
            </a:r>
            <a:r>
              <a:rPr lang="ko-KR" altLang="en-US" sz="4000" spc="480">
                <a:solidFill>
                  <a:schemeClr val="bg1"/>
                </a:solidFill>
                <a:latin typeface="SunBatang Light"/>
              </a:rPr>
              <a:t>펄스탐지기</a:t>
            </a:r>
            <a:endParaRPr lang="ko-KR" altLang="en-US" sz="4000" spc="480">
              <a:solidFill>
                <a:schemeClr val="bg1"/>
              </a:solidFill>
              <a:latin typeface="SunBatang Light"/>
            </a:endParaRPr>
          </a:p>
        </p:txBody>
      </p:sp>
      <p:sp>
        <p:nvSpPr>
          <p:cNvPr id="19" name="TextBox 4"/>
          <p:cNvSpPr txBox="1"/>
          <p:nvPr/>
        </p:nvSpPr>
        <p:spPr>
          <a:xfrm>
            <a:off x="9144000" y="7086600"/>
            <a:ext cx="3287225" cy="96104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 tIns="179999" bIns="179999" anchor="ctr" anchorCtr="0">
            <a:spAutoFit/>
          </a:bodyPr>
          <a:lstStyle/>
          <a:p>
            <a:pPr lvl="0" algn="ctr">
              <a:defRPr/>
            </a:pPr>
            <a:r>
              <a:rPr lang="en-US" altLang="ko-KR" sz="4000" spc="480">
                <a:solidFill>
                  <a:schemeClr val="bg1"/>
                </a:solidFill>
                <a:latin typeface="SunBatang Light"/>
              </a:rPr>
              <a:t>2. </a:t>
            </a:r>
            <a:r>
              <a:rPr lang="ko-KR" altLang="en-US" sz="4000" spc="480">
                <a:solidFill>
                  <a:schemeClr val="bg1"/>
                </a:solidFill>
                <a:latin typeface="SunBatang Light"/>
              </a:rPr>
              <a:t>미니맵</a:t>
            </a:r>
            <a:endParaRPr lang="ko-KR" altLang="en-US" sz="4000" spc="480">
              <a:solidFill>
                <a:schemeClr val="bg1"/>
              </a:solidFill>
              <a:latin typeface="SunBatang Light"/>
            </a:endParaRPr>
          </a:p>
        </p:txBody>
      </p:sp>
    </p:spTree>
    <p:extLst>
      <p:ext uri="{BB962C8B-B14F-4D97-AF65-F5344CB8AC3E}">
        <p14:creationId xmlns:p14="http://schemas.microsoft.com/office/powerpoint/2010/main" val="1472035591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/>
          <p:cNvSpPr/>
          <p:nvPr/>
        </p:nvSpPr>
        <p:spPr>
          <a:xfrm>
            <a:off x="-2191890" y="-1457325"/>
            <a:ext cx="8172450" cy="8172450"/>
          </a:xfrm>
          <a:prstGeom prst="ellipse">
            <a:avLst/>
          </a:prstGeom>
          <a:noFill/>
          <a:ln w="6350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1350"/>
          </a:p>
        </p:txBody>
      </p:sp>
      <p:sp>
        <p:nvSpPr>
          <p:cNvPr id="11" name="타원 10"/>
          <p:cNvSpPr/>
          <p:nvPr/>
        </p:nvSpPr>
        <p:spPr>
          <a:xfrm>
            <a:off x="-1464569" y="-730004"/>
            <a:ext cx="6717807" cy="6717807"/>
          </a:xfrm>
          <a:prstGeom prst="ellipse">
            <a:avLst/>
          </a:prstGeom>
          <a:noFill/>
          <a:ln w="635000">
            <a:solidFill>
              <a:schemeClr val="bg1">
                <a:alpha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1350">
              <a:latin typeface="맑은 고딕"/>
            </a:endParaRPr>
          </a:p>
        </p:txBody>
      </p:sp>
      <p:sp>
        <p:nvSpPr>
          <p:cNvPr id="16" name="TextBox 4"/>
          <p:cNvSpPr txBox="1"/>
          <p:nvPr/>
        </p:nvSpPr>
        <p:spPr>
          <a:xfrm>
            <a:off x="-742952" y="2438400"/>
            <a:ext cx="6000752" cy="1371600"/>
          </a:xfrm>
          <a:prstGeom prst="rect">
            <a:avLst/>
          </a:prstGeom>
        </p:spPr>
        <p:txBody>
          <a:bodyPr anchor="ctr"/>
          <a:lstStyle/>
          <a:p>
            <a:pPr lvl="0" algn="ctr">
              <a:defRPr/>
            </a:pPr>
            <a:r>
              <a:rPr lang="ko-KR" altLang="en-US" sz="7200" spc="480">
                <a:solidFill>
                  <a:schemeClr val="bg1"/>
                </a:solidFill>
                <a:latin typeface="맑은 고딕"/>
              </a:rPr>
              <a:t>펄스 </a:t>
            </a:r>
            <a:endParaRPr lang="ko-KR" altLang="en-US" sz="7200" spc="480">
              <a:solidFill>
                <a:schemeClr val="bg1"/>
              </a:solidFill>
              <a:latin typeface="맑은 고딕"/>
            </a:endParaRPr>
          </a:p>
          <a:p>
            <a:pPr lvl="0" algn="ctr">
              <a:defRPr/>
            </a:pPr>
            <a:r>
              <a:rPr lang="ko-KR" altLang="en-US" sz="7200" spc="480">
                <a:solidFill>
                  <a:schemeClr val="bg1"/>
                </a:solidFill>
                <a:latin typeface="맑은 고딕"/>
              </a:rPr>
              <a:t>탐지기</a:t>
            </a:r>
            <a:endParaRPr lang="ko-KR" altLang="en-US" sz="7200" spc="480">
              <a:solidFill>
                <a:schemeClr val="bg1"/>
              </a:solidFill>
              <a:latin typeface="맑은 고딕"/>
            </a:endParaRPr>
          </a:p>
        </p:txBody>
      </p:sp>
      <p:sp>
        <p:nvSpPr>
          <p:cNvPr id="17" name="TextBox 4"/>
          <p:cNvSpPr txBox="1"/>
          <p:nvPr/>
        </p:nvSpPr>
        <p:spPr>
          <a:xfrm>
            <a:off x="628648" y="1227991"/>
            <a:ext cx="4171952" cy="1371600"/>
          </a:xfrm>
          <a:prstGeom prst="rect">
            <a:avLst/>
          </a:prstGeom>
        </p:spPr>
        <p:txBody>
          <a:bodyPr anchor="ctr"/>
          <a:lstStyle/>
          <a:p>
            <a:pPr lvl="0">
              <a:lnSpc>
                <a:spcPct val="191315"/>
              </a:lnSpc>
              <a:defRPr/>
            </a:pPr>
            <a:r>
              <a:rPr lang="ko-KR" altLang="en-US" sz="4000" spc="480">
                <a:solidFill>
                  <a:schemeClr val="bg1"/>
                </a:solidFill>
                <a:latin typeface="맑은 고딕"/>
              </a:rPr>
              <a:t>주요시스템</a:t>
            </a:r>
            <a:endParaRPr lang="ko-KR" altLang="en-US" sz="4000" spc="480">
              <a:solidFill>
                <a:schemeClr val="bg1"/>
              </a:solidFill>
              <a:latin typeface="맑은 고딕"/>
            </a:endParaRPr>
          </a:p>
          <a:p>
            <a:pPr lvl="0" algn="ctr">
              <a:lnSpc>
                <a:spcPct val="191315"/>
              </a:lnSpc>
              <a:defRPr/>
            </a:pPr>
            <a:endParaRPr lang="en" altLang="ko-KR" sz="7200" spc="48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029200" y="3338455"/>
            <a:ext cx="12445112" cy="7039089"/>
          </a:xfrm>
          <a:prstGeom prst="rect">
            <a:avLst/>
          </a:prstGeom>
          <a:ln w="38100">
            <a:solidFill>
              <a:schemeClr val="lt1"/>
            </a:solidFill>
            <a:prstDash val="solid"/>
          </a:ln>
        </p:spPr>
      </p:pic>
      <p:sp>
        <p:nvSpPr>
          <p:cNvPr id="24" name="TextBox 7"/>
          <p:cNvSpPr txBox="1"/>
          <p:nvPr/>
        </p:nvSpPr>
        <p:spPr>
          <a:xfrm>
            <a:off x="342900" y="11049000"/>
            <a:ext cx="17602200" cy="2274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  <a:defRPr/>
            </a:pP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펄스를 발사해서 주변 지형과 오브젝트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,</a:t>
            </a: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 적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,</a:t>
            </a: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 아이템을 탐지해서  시야에 표시해줍니다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.</a:t>
            </a:r>
            <a:endParaRPr lang="en-US" altLang="ko-KR" sz="3600">
              <a:solidFill>
                <a:schemeClr val="bg1"/>
              </a:solidFill>
              <a:latin typeface="맑은 고딕"/>
            </a:endParaRPr>
          </a:p>
          <a:p>
            <a:pPr marL="0" lvl="0" indent="0">
              <a:buNone/>
              <a:defRPr/>
            </a:pP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반지름 약 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30M</a:t>
            </a: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의 범위를 체크해줍니다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.</a:t>
            </a:r>
            <a:endParaRPr lang="en-US" altLang="ko-KR" sz="3600">
              <a:solidFill>
                <a:schemeClr val="bg1"/>
              </a:solidFill>
              <a:latin typeface="맑은 고딕"/>
            </a:endParaRPr>
          </a:p>
          <a:p>
            <a:pPr marL="0" lvl="0" indent="0">
              <a:buNone/>
              <a:defRPr/>
            </a:pP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반지름이 넓어질수록 펄스와 탐지표현이 옅어집니다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.</a:t>
            </a:r>
            <a:endParaRPr lang="en-US" altLang="ko-KR" sz="3600">
              <a:solidFill>
                <a:schemeClr val="bg1"/>
              </a:solidFill>
              <a:latin typeface="맑은 고딕"/>
            </a:endParaRPr>
          </a:p>
          <a:p>
            <a:pPr marL="571500" lvl="0" indent="-571500">
              <a:buNone/>
              <a:defRPr/>
            </a:pPr>
            <a:endParaRPr lang="en-US" altLang="ko-KR" sz="3600">
              <a:solidFill>
                <a:schemeClr val="bg1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145641014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/>
          <p:cNvSpPr/>
          <p:nvPr/>
        </p:nvSpPr>
        <p:spPr>
          <a:xfrm>
            <a:off x="-2191890" y="-1457325"/>
            <a:ext cx="8172450" cy="8172450"/>
          </a:xfrm>
          <a:prstGeom prst="ellipse">
            <a:avLst/>
          </a:prstGeom>
          <a:noFill/>
          <a:ln w="6350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1350"/>
          </a:p>
        </p:txBody>
      </p:sp>
      <p:sp>
        <p:nvSpPr>
          <p:cNvPr id="11" name="타원 10"/>
          <p:cNvSpPr/>
          <p:nvPr/>
        </p:nvSpPr>
        <p:spPr>
          <a:xfrm>
            <a:off x="-1464569" y="-730004"/>
            <a:ext cx="6717807" cy="6717807"/>
          </a:xfrm>
          <a:prstGeom prst="ellipse">
            <a:avLst/>
          </a:prstGeom>
          <a:noFill/>
          <a:ln w="635000">
            <a:solidFill>
              <a:schemeClr val="bg1">
                <a:alpha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1350">
              <a:latin typeface="맑은 고딕"/>
            </a:endParaRPr>
          </a:p>
        </p:txBody>
      </p:sp>
      <p:sp>
        <p:nvSpPr>
          <p:cNvPr id="16" name="TextBox 4"/>
          <p:cNvSpPr txBox="1"/>
          <p:nvPr/>
        </p:nvSpPr>
        <p:spPr>
          <a:xfrm>
            <a:off x="-742952" y="2438400"/>
            <a:ext cx="6000752" cy="1371600"/>
          </a:xfrm>
          <a:prstGeom prst="rect">
            <a:avLst/>
          </a:prstGeom>
        </p:spPr>
        <p:txBody>
          <a:bodyPr anchor="ctr"/>
          <a:lstStyle/>
          <a:p>
            <a:pPr lvl="0" algn="ctr">
              <a:defRPr/>
            </a:pPr>
            <a:r>
              <a:rPr lang="ko-KR" altLang="en-US" sz="7200" spc="480">
                <a:solidFill>
                  <a:schemeClr val="bg1"/>
                </a:solidFill>
                <a:latin typeface="맑은 고딕"/>
              </a:rPr>
              <a:t>펄스 </a:t>
            </a:r>
            <a:endParaRPr lang="ko-KR" altLang="en-US" sz="7200" spc="480">
              <a:solidFill>
                <a:schemeClr val="bg1"/>
              </a:solidFill>
              <a:latin typeface="맑은 고딕"/>
            </a:endParaRPr>
          </a:p>
          <a:p>
            <a:pPr lvl="0" algn="ctr">
              <a:defRPr/>
            </a:pPr>
            <a:r>
              <a:rPr lang="ko-KR" altLang="en-US" sz="7200" spc="480">
                <a:solidFill>
                  <a:schemeClr val="bg1"/>
                </a:solidFill>
                <a:latin typeface="맑은 고딕"/>
              </a:rPr>
              <a:t>탐지기</a:t>
            </a:r>
            <a:endParaRPr lang="ko-KR" altLang="en-US" sz="7200" spc="480">
              <a:solidFill>
                <a:schemeClr val="bg1"/>
              </a:solidFill>
              <a:latin typeface="맑은 고딕"/>
            </a:endParaRPr>
          </a:p>
        </p:txBody>
      </p:sp>
      <p:sp>
        <p:nvSpPr>
          <p:cNvPr id="17" name="TextBox 4"/>
          <p:cNvSpPr txBox="1"/>
          <p:nvPr/>
        </p:nvSpPr>
        <p:spPr>
          <a:xfrm>
            <a:off x="628648" y="1227991"/>
            <a:ext cx="4171952" cy="1371600"/>
          </a:xfrm>
          <a:prstGeom prst="rect">
            <a:avLst/>
          </a:prstGeom>
        </p:spPr>
        <p:txBody>
          <a:bodyPr anchor="ctr"/>
          <a:lstStyle/>
          <a:p>
            <a:pPr lvl="0">
              <a:lnSpc>
                <a:spcPct val="191315"/>
              </a:lnSpc>
              <a:defRPr/>
            </a:pPr>
            <a:r>
              <a:rPr lang="ko-KR" altLang="en-US" sz="4000" spc="480">
                <a:solidFill>
                  <a:schemeClr val="bg1"/>
                </a:solidFill>
                <a:latin typeface="맑은 고딕"/>
              </a:rPr>
              <a:t>주요시스템</a:t>
            </a:r>
            <a:endParaRPr lang="ko-KR" altLang="en-US" sz="4000" spc="480">
              <a:solidFill>
                <a:schemeClr val="bg1"/>
              </a:solidFill>
              <a:latin typeface="맑은 고딕"/>
            </a:endParaRPr>
          </a:p>
          <a:p>
            <a:pPr lvl="0" algn="ctr">
              <a:lnSpc>
                <a:spcPct val="191315"/>
              </a:lnSpc>
              <a:defRPr/>
            </a:pPr>
            <a:endParaRPr lang="en" altLang="ko-KR" sz="7200" spc="48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24" name="TextBox 7"/>
          <p:cNvSpPr txBox="1"/>
          <p:nvPr/>
        </p:nvSpPr>
        <p:spPr>
          <a:xfrm>
            <a:off x="342900" y="11049000"/>
            <a:ext cx="17602200" cy="636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Font typeface="Arial"/>
              <a:buNone/>
              <a:defRPr/>
            </a:pP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벽을 제외한 적과 아이템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,</a:t>
            </a: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 오브젝트는 벽 너머에서도 실루엣을 보여줍니다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.</a:t>
            </a:r>
            <a:endParaRPr lang="en-US" altLang="ko-KR" sz="3600">
              <a:solidFill>
                <a:schemeClr val="bg1"/>
              </a:solidFill>
              <a:latin typeface="맑은 고딕"/>
            </a:endParaRPr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14800" y="4114800"/>
            <a:ext cx="7342072" cy="4983359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3"/>
          <a:srcRect l="66157"/>
          <a:stretch>
            <a:fillRect/>
          </a:stretch>
        </p:blipFill>
        <p:spPr>
          <a:xfrm>
            <a:off x="13258981" y="4648200"/>
            <a:ext cx="3657420" cy="5986300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534400" y="533399"/>
            <a:ext cx="9026220" cy="6858000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295795469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/>
          <p:cNvSpPr/>
          <p:nvPr/>
        </p:nvSpPr>
        <p:spPr>
          <a:xfrm>
            <a:off x="-2191890" y="-1457325"/>
            <a:ext cx="8172450" cy="8172450"/>
          </a:xfrm>
          <a:prstGeom prst="ellipse">
            <a:avLst/>
          </a:prstGeom>
          <a:noFill/>
          <a:ln w="6350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1350"/>
          </a:p>
        </p:txBody>
      </p:sp>
      <p:sp>
        <p:nvSpPr>
          <p:cNvPr id="11" name="타원 10"/>
          <p:cNvSpPr/>
          <p:nvPr/>
        </p:nvSpPr>
        <p:spPr>
          <a:xfrm>
            <a:off x="-1464569" y="-730004"/>
            <a:ext cx="6717807" cy="6717807"/>
          </a:xfrm>
          <a:prstGeom prst="ellipse">
            <a:avLst/>
          </a:prstGeom>
          <a:noFill/>
          <a:ln w="635000">
            <a:solidFill>
              <a:schemeClr val="bg1">
                <a:alpha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1350">
              <a:latin typeface="맑은 고딕"/>
            </a:endParaRPr>
          </a:p>
        </p:txBody>
      </p:sp>
      <p:sp>
        <p:nvSpPr>
          <p:cNvPr id="16" name="TextBox 4"/>
          <p:cNvSpPr txBox="1"/>
          <p:nvPr/>
        </p:nvSpPr>
        <p:spPr>
          <a:xfrm>
            <a:off x="-742952" y="2438400"/>
            <a:ext cx="6000752" cy="1371600"/>
          </a:xfrm>
          <a:prstGeom prst="rect">
            <a:avLst/>
          </a:prstGeom>
        </p:spPr>
        <p:txBody>
          <a:bodyPr anchor="ctr"/>
          <a:lstStyle/>
          <a:p>
            <a:pPr lvl="0" algn="ctr">
              <a:defRPr/>
            </a:pPr>
            <a:r>
              <a:rPr lang="ko-KR" altLang="en-US" sz="7200" spc="480">
                <a:solidFill>
                  <a:schemeClr val="bg1"/>
                </a:solidFill>
                <a:latin typeface="맑은 고딕"/>
              </a:rPr>
              <a:t>펄스 </a:t>
            </a:r>
            <a:endParaRPr lang="ko-KR" altLang="en-US" sz="7200" spc="480">
              <a:solidFill>
                <a:schemeClr val="bg1"/>
              </a:solidFill>
              <a:latin typeface="맑은 고딕"/>
            </a:endParaRPr>
          </a:p>
          <a:p>
            <a:pPr lvl="0" algn="ctr">
              <a:defRPr/>
            </a:pPr>
            <a:r>
              <a:rPr lang="ko-KR" altLang="en-US" sz="7200" spc="480">
                <a:solidFill>
                  <a:schemeClr val="bg1"/>
                </a:solidFill>
                <a:latin typeface="맑은 고딕"/>
              </a:rPr>
              <a:t>탐지기</a:t>
            </a:r>
            <a:endParaRPr lang="ko-KR" altLang="en-US" sz="7200" spc="480">
              <a:solidFill>
                <a:schemeClr val="bg1"/>
              </a:solidFill>
              <a:latin typeface="맑은 고딕"/>
            </a:endParaRPr>
          </a:p>
        </p:txBody>
      </p:sp>
      <p:sp>
        <p:nvSpPr>
          <p:cNvPr id="17" name="TextBox 4"/>
          <p:cNvSpPr txBox="1"/>
          <p:nvPr/>
        </p:nvSpPr>
        <p:spPr>
          <a:xfrm>
            <a:off x="628648" y="1227991"/>
            <a:ext cx="4171952" cy="1371600"/>
          </a:xfrm>
          <a:prstGeom prst="rect">
            <a:avLst/>
          </a:prstGeom>
        </p:spPr>
        <p:txBody>
          <a:bodyPr anchor="ctr"/>
          <a:lstStyle/>
          <a:p>
            <a:pPr lvl="0">
              <a:lnSpc>
                <a:spcPct val="191315"/>
              </a:lnSpc>
              <a:defRPr/>
            </a:pPr>
            <a:r>
              <a:rPr lang="ko-KR" altLang="en-US" sz="4000" spc="480">
                <a:solidFill>
                  <a:schemeClr val="bg1"/>
                </a:solidFill>
                <a:latin typeface="맑은 고딕"/>
              </a:rPr>
              <a:t>주요시스템</a:t>
            </a:r>
            <a:endParaRPr lang="ko-KR" altLang="en-US" sz="4000" spc="480">
              <a:solidFill>
                <a:schemeClr val="bg1"/>
              </a:solidFill>
              <a:latin typeface="맑은 고딕"/>
            </a:endParaRPr>
          </a:p>
          <a:p>
            <a:pPr lvl="0" algn="ctr">
              <a:lnSpc>
                <a:spcPct val="191315"/>
              </a:lnSpc>
              <a:defRPr/>
            </a:pPr>
            <a:endParaRPr lang="en" altLang="ko-KR" sz="7200" spc="48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24" name="TextBox 7"/>
          <p:cNvSpPr txBox="1"/>
          <p:nvPr/>
        </p:nvSpPr>
        <p:spPr>
          <a:xfrm>
            <a:off x="342900" y="11049000"/>
            <a:ext cx="17602200" cy="1179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Font typeface="Arial"/>
              <a:buNone/>
              <a:defRPr/>
            </a:pP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Q</a:t>
            </a: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 키를 눌러서 작동할수 있고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,</a:t>
            </a: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 한번 작동시 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3</a:t>
            </a: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초의 쿨타임이 있습니다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.</a:t>
            </a:r>
            <a:endParaRPr lang="en-US" altLang="ko-KR" sz="3600">
              <a:solidFill>
                <a:schemeClr val="bg1"/>
              </a:solidFill>
              <a:latin typeface="맑은 고딕"/>
            </a:endParaRPr>
          </a:p>
          <a:p>
            <a:pPr marL="0" lvl="0" indent="0">
              <a:buFont typeface="Arial"/>
              <a:buNone/>
              <a:defRPr/>
            </a:pP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쿨타임시에는 그림과 같이 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Q</a:t>
            </a: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자 뒤에 쿨타임을 표시하는 그림을 그려줍니다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.</a:t>
            </a:r>
            <a:endParaRPr lang="en-US" altLang="ko-KR" sz="3600">
              <a:solidFill>
                <a:schemeClr val="bg1"/>
              </a:solidFill>
              <a:latin typeface="맑은 고딕"/>
            </a:endParaRPr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2"/>
          <a:srcRect l="12454" t="71867" r="56410"/>
          <a:stretch>
            <a:fillRect/>
          </a:stretch>
        </p:blipFill>
        <p:spPr>
          <a:xfrm>
            <a:off x="6400800" y="2531258"/>
            <a:ext cx="9291572" cy="569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596269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/>
          <p:cNvSpPr/>
          <p:nvPr/>
        </p:nvSpPr>
        <p:spPr>
          <a:xfrm>
            <a:off x="-2191890" y="-1457325"/>
            <a:ext cx="8172450" cy="8172450"/>
          </a:xfrm>
          <a:prstGeom prst="ellipse">
            <a:avLst/>
          </a:prstGeom>
          <a:noFill/>
          <a:ln w="6350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1350"/>
          </a:p>
        </p:txBody>
      </p:sp>
      <p:sp>
        <p:nvSpPr>
          <p:cNvPr id="11" name="타원 10"/>
          <p:cNvSpPr/>
          <p:nvPr/>
        </p:nvSpPr>
        <p:spPr>
          <a:xfrm>
            <a:off x="-1464569" y="-730004"/>
            <a:ext cx="6717807" cy="6717807"/>
          </a:xfrm>
          <a:prstGeom prst="ellipse">
            <a:avLst/>
          </a:prstGeom>
          <a:noFill/>
          <a:ln w="635000">
            <a:solidFill>
              <a:schemeClr val="bg1">
                <a:alpha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1350">
              <a:latin typeface="맑은 고딕"/>
            </a:endParaRPr>
          </a:p>
        </p:txBody>
      </p:sp>
      <p:sp>
        <p:nvSpPr>
          <p:cNvPr id="16" name="TextBox 4"/>
          <p:cNvSpPr txBox="1"/>
          <p:nvPr/>
        </p:nvSpPr>
        <p:spPr>
          <a:xfrm>
            <a:off x="-742952" y="2438400"/>
            <a:ext cx="6000752" cy="1371600"/>
          </a:xfrm>
          <a:prstGeom prst="rect">
            <a:avLst/>
          </a:prstGeom>
        </p:spPr>
        <p:txBody>
          <a:bodyPr anchor="ctr"/>
          <a:lstStyle/>
          <a:p>
            <a:pPr lvl="0" algn="ctr">
              <a:defRPr/>
            </a:pPr>
            <a:r>
              <a:rPr lang="ko-KR" altLang="en-US" sz="7200" spc="480">
                <a:solidFill>
                  <a:schemeClr val="bg1"/>
                </a:solidFill>
                <a:latin typeface="맑은 고딕"/>
              </a:rPr>
              <a:t>펄스 </a:t>
            </a:r>
            <a:endParaRPr lang="ko-KR" altLang="en-US" sz="7200" spc="480">
              <a:solidFill>
                <a:schemeClr val="bg1"/>
              </a:solidFill>
              <a:latin typeface="맑은 고딕"/>
            </a:endParaRPr>
          </a:p>
          <a:p>
            <a:pPr lvl="0" algn="ctr">
              <a:defRPr/>
            </a:pPr>
            <a:r>
              <a:rPr lang="ko-KR" altLang="en-US" sz="7200" spc="480">
                <a:solidFill>
                  <a:schemeClr val="bg1"/>
                </a:solidFill>
                <a:latin typeface="맑은 고딕"/>
              </a:rPr>
              <a:t>탐지기</a:t>
            </a:r>
            <a:endParaRPr lang="ko-KR" altLang="en-US" sz="7200" spc="480">
              <a:solidFill>
                <a:schemeClr val="bg1"/>
              </a:solidFill>
              <a:latin typeface="맑은 고딕"/>
            </a:endParaRPr>
          </a:p>
        </p:txBody>
      </p:sp>
      <p:sp>
        <p:nvSpPr>
          <p:cNvPr id="17" name="TextBox 4"/>
          <p:cNvSpPr txBox="1"/>
          <p:nvPr/>
        </p:nvSpPr>
        <p:spPr>
          <a:xfrm>
            <a:off x="628648" y="1227991"/>
            <a:ext cx="4171952" cy="1371600"/>
          </a:xfrm>
          <a:prstGeom prst="rect">
            <a:avLst/>
          </a:prstGeom>
        </p:spPr>
        <p:txBody>
          <a:bodyPr anchor="ctr"/>
          <a:lstStyle/>
          <a:p>
            <a:pPr lvl="0">
              <a:lnSpc>
                <a:spcPct val="191315"/>
              </a:lnSpc>
              <a:defRPr/>
            </a:pPr>
            <a:r>
              <a:rPr lang="ko-KR" altLang="en-US" sz="4000" spc="480">
                <a:solidFill>
                  <a:schemeClr val="bg1"/>
                </a:solidFill>
                <a:latin typeface="맑은 고딕"/>
              </a:rPr>
              <a:t>주요시스템</a:t>
            </a:r>
            <a:endParaRPr lang="ko-KR" altLang="en-US" sz="4000" spc="480">
              <a:solidFill>
                <a:schemeClr val="bg1"/>
              </a:solidFill>
              <a:latin typeface="맑은 고딕"/>
            </a:endParaRPr>
          </a:p>
          <a:p>
            <a:pPr lvl="0" algn="ctr">
              <a:lnSpc>
                <a:spcPct val="191315"/>
              </a:lnSpc>
              <a:defRPr/>
            </a:pPr>
            <a:endParaRPr lang="en" altLang="ko-KR" sz="7200" spc="48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24" name="TextBox 7"/>
          <p:cNvSpPr txBox="1"/>
          <p:nvPr/>
        </p:nvSpPr>
        <p:spPr>
          <a:xfrm>
            <a:off x="342900" y="11049000"/>
            <a:ext cx="17602200" cy="2274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0" indent="-571500">
              <a:buFont typeface="Arial"/>
              <a:buChar char="•"/>
              <a:defRPr/>
            </a:pP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총 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8</a:t>
            </a: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개의 배터리칸이 있습니다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.</a:t>
            </a:r>
            <a:endParaRPr lang="en-US" altLang="ko-KR" sz="3600">
              <a:solidFill>
                <a:schemeClr val="bg1"/>
              </a:solidFill>
              <a:latin typeface="맑은 고딕"/>
            </a:endParaRPr>
          </a:p>
          <a:p>
            <a:pPr marL="571500" lvl="0" indent="-571500">
              <a:buFont typeface="Arial"/>
              <a:buChar char="•"/>
              <a:defRPr/>
            </a:pP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한번 사용할때마다 한칸씩 까입니다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.</a:t>
            </a: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 </a:t>
            </a:r>
            <a:endParaRPr lang="ko-KR" altLang="en-US" sz="3600">
              <a:solidFill>
                <a:schemeClr val="bg1"/>
              </a:solidFill>
              <a:latin typeface="맑은 고딕"/>
            </a:endParaRPr>
          </a:p>
          <a:p>
            <a:pPr marL="571500" lvl="0" indent="-571500">
              <a:buFont typeface="Arial"/>
              <a:buChar char="•"/>
              <a:defRPr/>
            </a:pP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배터리 아이템으로 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2</a:t>
            </a: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칸을 충전할 수 있습니다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.</a:t>
            </a:r>
            <a:endParaRPr lang="en-US" altLang="ko-KR" sz="3600">
              <a:solidFill>
                <a:schemeClr val="bg1"/>
              </a:solidFill>
              <a:latin typeface="맑은 고딕"/>
            </a:endParaRPr>
          </a:p>
          <a:p>
            <a:pPr marL="571500" lvl="0" indent="-571500">
              <a:buFont typeface="Arial"/>
              <a:buChar char="•"/>
              <a:defRPr/>
            </a:pP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8</a:t>
            </a: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칸 이상으로 충전할수 없습니다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.</a:t>
            </a:r>
            <a:endParaRPr lang="en-US" altLang="ko-KR" sz="3600">
              <a:solidFill>
                <a:schemeClr val="bg1"/>
              </a:solidFill>
              <a:latin typeface="맑은 고딕"/>
            </a:endParaRPr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2"/>
          <a:srcRect l="28541" t="74418" r="60479" b="17305"/>
          <a:stretch>
            <a:fillRect/>
          </a:stretch>
        </p:blipFill>
        <p:spPr>
          <a:xfrm>
            <a:off x="9721357" y="4892201"/>
            <a:ext cx="7118842" cy="3642198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3"/>
          <a:srcRect l="35471" t="82143" r="58356" b="10913"/>
          <a:stretch>
            <a:fillRect/>
          </a:stretch>
        </p:blipFill>
        <p:spPr>
          <a:xfrm>
            <a:off x="762000" y="4876800"/>
            <a:ext cx="7016424" cy="4464997"/>
          </a:xfrm>
          <a:prstGeom prst="rect">
            <a:avLst/>
          </a:prstGeom>
          <a:ln w="38100">
            <a:solidFill>
              <a:schemeClr val="lt1"/>
            </a:solidFill>
            <a:prstDash val="solid"/>
          </a:ln>
        </p:spPr>
      </p:pic>
      <p:sp>
        <p:nvSpPr>
          <p:cNvPr id="30" name="오른쪽 화살표 29"/>
          <p:cNvSpPr/>
          <p:nvPr/>
        </p:nvSpPr>
        <p:spPr>
          <a:xfrm>
            <a:off x="8077200" y="5715000"/>
            <a:ext cx="1600200" cy="137160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 sz="2700" b="1"/>
              <a:t>사용시</a:t>
            </a:r>
            <a:endParaRPr lang="ko-KR" altLang="en-US" sz="2700" b="1"/>
          </a:p>
        </p:txBody>
      </p:sp>
    </p:spTree>
    <p:extLst>
      <p:ext uri="{BB962C8B-B14F-4D97-AF65-F5344CB8AC3E}">
        <p14:creationId xmlns:p14="http://schemas.microsoft.com/office/powerpoint/2010/main" val="444820732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/>
          <p:cNvSpPr/>
          <p:nvPr/>
        </p:nvSpPr>
        <p:spPr>
          <a:xfrm>
            <a:off x="-2191890" y="-1457325"/>
            <a:ext cx="8172450" cy="8172450"/>
          </a:xfrm>
          <a:prstGeom prst="ellipse">
            <a:avLst/>
          </a:prstGeom>
          <a:noFill/>
          <a:ln w="6350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1350"/>
          </a:p>
        </p:txBody>
      </p:sp>
      <p:sp>
        <p:nvSpPr>
          <p:cNvPr id="11" name="타원 10"/>
          <p:cNvSpPr/>
          <p:nvPr/>
        </p:nvSpPr>
        <p:spPr>
          <a:xfrm>
            <a:off x="-1464569" y="-730004"/>
            <a:ext cx="6717807" cy="6717807"/>
          </a:xfrm>
          <a:prstGeom prst="ellipse">
            <a:avLst/>
          </a:prstGeom>
          <a:noFill/>
          <a:ln w="635000">
            <a:solidFill>
              <a:schemeClr val="bg1">
                <a:alpha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1350">
              <a:latin typeface="맑은 고딕"/>
            </a:endParaRPr>
          </a:p>
        </p:txBody>
      </p:sp>
      <p:sp>
        <p:nvSpPr>
          <p:cNvPr id="16" name="TextBox 4"/>
          <p:cNvSpPr txBox="1"/>
          <p:nvPr/>
        </p:nvSpPr>
        <p:spPr>
          <a:xfrm>
            <a:off x="-742952" y="2438400"/>
            <a:ext cx="6000752" cy="1371600"/>
          </a:xfrm>
          <a:prstGeom prst="rect">
            <a:avLst/>
          </a:prstGeom>
        </p:spPr>
        <p:txBody>
          <a:bodyPr anchor="ctr"/>
          <a:lstStyle/>
          <a:p>
            <a:pPr lvl="0" algn="ctr">
              <a:defRPr/>
            </a:pPr>
            <a:r>
              <a:rPr lang="ko-KR" altLang="en-US" sz="7200" spc="480">
                <a:solidFill>
                  <a:schemeClr val="bg1"/>
                </a:solidFill>
                <a:latin typeface="맑은 고딕"/>
              </a:rPr>
              <a:t>미니맵</a:t>
            </a:r>
            <a:endParaRPr lang="ko-KR" altLang="en-US" sz="7200" spc="480">
              <a:solidFill>
                <a:schemeClr val="bg1"/>
              </a:solidFill>
              <a:latin typeface="맑은 고딕"/>
            </a:endParaRPr>
          </a:p>
        </p:txBody>
      </p:sp>
      <p:sp>
        <p:nvSpPr>
          <p:cNvPr id="17" name="TextBox 4"/>
          <p:cNvSpPr txBox="1"/>
          <p:nvPr/>
        </p:nvSpPr>
        <p:spPr>
          <a:xfrm>
            <a:off x="628648" y="1227991"/>
            <a:ext cx="4171952" cy="1371600"/>
          </a:xfrm>
          <a:prstGeom prst="rect">
            <a:avLst/>
          </a:prstGeom>
        </p:spPr>
        <p:txBody>
          <a:bodyPr anchor="ctr"/>
          <a:lstStyle/>
          <a:p>
            <a:pPr lvl="0">
              <a:lnSpc>
                <a:spcPct val="191315"/>
              </a:lnSpc>
              <a:defRPr/>
            </a:pPr>
            <a:r>
              <a:rPr lang="ko-KR" altLang="en-US" sz="4000" spc="480">
                <a:solidFill>
                  <a:schemeClr val="bg1"/>
                </a:solidFill>
                <a:latin typeface="맑은 고딕"/>
              </a:rPr>
              <a:t>주요시스템</a:t>
            </a:r>
            <a:endParaRPr lang="ko-KR" altLang="en-US" sz="4000" spc="480">
              <a:solidFill>
                <a:schemeClr val="bg1"/>
              </a:solidFill>
              <a:latin typeface="맑은 고딕"/>
            </a:endParaRPr>
          </a:p>
          <a:p>
            <a:pPr lvl="0" algn="ctr">
              <a:lnSpc>
                <a:spcPct val="191315"/>
              </a:lnSpc>
              <a:defRPr/>
            </a:pPr>
            <a:endParaRPr lang="en" altLang="ko-KR" sz="7200" spc="48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rcRect l="26394" t="54521" r="57770" b="15591"/>
          <a:stretch>
            <a:fillRect/>
          </a:stretch>
        </p:blipFill>
        <p:spPr>
          <a:xfrm>
            <a:off x="11946707" y="3276600"/>
            <a:ext cx="5274493" cy="5626126"/>
          </a:xfrm>
          <a:prstGeom prst="rect">
            <a:avLst/>
          </a:prstGeom>
          <a:ln w="57150">
            <a:solidFill>
              <a:schemeClr val="bg1"/>
            </a:solidFill>
          </a:ln>
        </p:spPr>
      </p:pic>
      <p:sp>
        <p:nvSpPr>
          <p:cNvPr id="23" name="TextBox 7"/>
          <p:cNvSpPr txBox="1"/>
          <p:nvPr/>
        </p:nvSpPr>
        <p:spPr>
          <a:xfrm>
            <a:off x="304800" y="9829800"/>
            <a:ext cx="17983200" cy="1179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  <a:defRPr/>
            </a:pP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펄스탐지기로 탐지한 지형과 오브젝트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,</a:t>
            </a: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 적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,</a:t>
            </a: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 아이템을 미니맵 형식으로 표시해줍니다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.</a:t>
            </a:r>
            <a:endParaRPr lang="en-US" altLang="ko-KR" sz="3600">
              <a:solidFill>
                <a:schemeClr val="bg1"/>
              </a:solidFill>
              <a:latin typeface="맑은 고딕"/>
            </a:endParaRPr>
          </a:p>
          <a:p>
            <a:pPr marL="0" lvl="0" indent="0">
              <a:buNone/>
              <a:defRPr/>
            </a:pP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벽은 펄스 탐지가 끝나도 지워지지 않습니다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.</a:t>
            </a:r>
            <a:endParaRPr lang="en-US" altLang="ko-KR" sz="3600">
              <a:solidFill>
                <a:schemeClr val="bg1"/>
              </a:solidFill>
              <a:latin typeface="맑은 고딕"/>
            </a:endParaRP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3"/>
          <a:srcRect l="27538" t="59484" r="57487" b="14078"/>
          <a:stretch>
            <a:fillRect/>
          </a:stretch>
        </p:blipFill>
        <p:spPr>
          <a:xfrm>
            <a:off x="4810327" y="4267200"/>
            <a:ext cx="4562273" cy="4562273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27" name="오른쪽 화살표 26"/>
          <p:cNvSpPr/>
          <p:nvPr/>
        </p:nvSpPr>
        <p:spPr>
          <a:xfrm>
            <a:off x="9982200" y="5791200"/>
            <a:ext cx="1600200" cy="137160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 sz="2700" b="1"/>
              <a:t>사용시</a:t>
            </a:r>
            <a:endParaRPr lang="ko-KR" altLang="en-US" sz="2700" b="1"/>
          </a:p>
        </p:txBody>
      </p:sp>
    </p:spTree>
    <p:extLst>
      <p:ext uri="{BB962C8B-B14F-4D97-AF65-F5344CB8AC3E}">
        <p14:creationId xmlns:p14="http://schemas.microsoft.com/office/powerpoint/2010/main" val="2191662687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/>
          <p:cNvSpPr/>
          <p:nvPr/>
        </p:nvSpPr>
        <p:spPr>
          <a:xfrm>
            <a:off x="-2191890" y="-1457325"/>
            <a:ext cx="8172450" cy="8172450"/>
          </a:xfrm>
          <a:prstGeom prst="ellipse">
            <a:avLst/>
          </a:prstGeom>
          <a:noFill/>
          <a:ln w="6350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1350"/>
          </a:p>
        </p:txBody>
      </p:sp>
      <p:sp>
        <p:nvSpPr>
          <p:cNvPr id="11" name="타원 10"/>
          <p:cNvSpPr/>
          <p:nvPr/>
        </p:nvSpPr>
        <p:spPr>
          <a:xfrm>
            <a:off x="-1464569" y="-730004"/>
            <a:ext cx="6717807" cy="6717807"/>
          </a:xfrm>
          <a:prstGeom prst="ellipse">
            <a:avLst/>
          </a:prstGeom>
          <a:noFill/>
          <a:ln w="635000">
            <a:solidFill>
              <a:schemeClr val="bg1">
                <a:alpha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1350">
              <a:latin typeface="맑은 고딕"/>
            </a:endParaRPr>
          </a:p>
        </p:txBody>
      </p:sp>
      <p:sp>
        <p:nvSpPr>
          <p:cNvPr id="16" name="TextBox 4"/>
          <p:cNvSpPr txBox="1"/>
          <p:nvPr/>
        </p:nvSpPr>
        <p:spPr>
          <a:xfrm>
            <a:off x="-742952" y="2438400"/>
            <a:ext cx="6000752" cy="1371600"/>
          </a:xfrm>
          <a:prstGeom prst="rect">
            <a:avLst/>
          </a:prstGeom>
        </p:spPr>
        <p:txBody>
          <a:bodyPr anchor="ctr"/>
          <a:lstStyle/>
          <a:p>
            <a:pPr lvl="0" algn="ctr">
              <a:defRPr/>
            </a:pPr>
            <a:r>
              <a:rPr lang="ko-KR" altLang="en-US" sz="7200" spc="480">
                <a:solidFill>
                  <a:schemeClr val="bg1"/>
                </a:solidFill>
                <a:latin typeface="맑은 고딕"/>
              </a:rPr>
              <a:t>미니맵</a:t>
            </a:r>
            <a:endParaRPr lang="ko-KR" altLang="en-US" sz="7200" spc="480">
              <a:solidFill>
                <a:schemeClr val="bg1"/>
              </a:solidFill>
              <a:latin typeface="맑은 고딕"/>
            </a:endParaRPr>
          </a:p>
        </p:txBody>
      </p:sp>
      <p:sp>
        <p:nvSpPr>
          <p:cNvPr id="17" name="TextBox 4"/>
          <p:cNvSpPr txBox="1"/>
          <p:nvPr/>
        </p:nvSpPr>
        <p:spPr>
          <a:xfrm>
            <a:off x="628648" y="1227991"/>
            <a:ext cx="4171952" cy="1371600"/>
          </a:xfrm>
          <a:prstGeom prst="rect">
            <a:avLst/>
          </a:prstGeom>
        </p:spPr>
        <p:txBody>
          <a:bodyPr anchor="ctr"/>
          <a:lstStyle/>
          <a:p>
            <a:pPr lvl="0">
              <a:lnSpc>
                <a:spcPct val="191315"/>
              </a:lnSpc>
              <a:defRPr/>
            </a:pPr>
            <a:r>
              <a:rPr lang="ko-KR" altLang="en-US" sz="4000" spc="480">
                <a:solidFill>
                  <a:schemeClr val="bg1"/>
                </a:solidFill>
                <a:latin typeface="맑은 고딕"/>
              </a:rPr>
              <a:t>주요시스템</a:t>
            </a:r>
            <a:endParaRPr lang="ko-KR" altLang="en-US" sz="4000" spc="480">
              <a:solidFill>
                <a:schemeClr val="bg1"/>
              </a:solidFill>
              <a:latin typeface="맑은 고딕"/>
            </a:endParaRPr>
          </a:p>
          <a:p>
            <a:pPr lvl="0" algn="ctr">
              <a:lnSpc>
                <a:spcPct val="191315"/>
              </a:lnSpc>
              <a:defRPr/>
            </a:pPr>
            <a:endParaRPr lang="en" altLang="ko-KR" sz="7200" spc="48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rcRect l="26394" t="54521" r="57770" b="15591"/>
          <a:stretch>
            <a:fillRect/>
          </a:stretch>
        </p:blipFill>
        <p:spPr>
          <a:xfrm>
            <a:off x="11946707" y="3276600"/>
            <a:ext cx="5274493" cy="5626126"/>
          </a:xfrm>
          <a:prstGeom prst="rect">
            <a:avLst/>
          </a:prstGeom>
          <a:ln w="57150">
            <a:solidFill>
              <a:schemeClr val="bg1"/>
            </a:solidFill>
          </a:ln>
        </p:spPr>
      </p:pic>
      <p:sp>
        <p:nvSpPr>
          <p:cNvPr id="23" name="TextBox 7"/>
          <p:cNvSpPr txBox="1"/>
          <p:nvPr/>
        </p:nvSpPr>
        <p:spPr>
          <a:xfrm>
            <a:off x="304800" y="9829800"/>
            <a:ext cx="17983200" cy="1179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  <a:defRPr/>
            </a:pP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적을 탐지한 경우 빨간색으로 표시하며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,</a:t>
            </a: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 펄스와 탐지표현이 옅어지다 꺼지면</a:t>
            </a:r>
            <a:endParaRPr lang="ko-KR" altLang="en-US" sz="3600">
              <a:solidFill>
                <a:schemeClr val="bg1"/>
              </a:solidFill>
              <a:latin typeface="맑은 고딕"/>
            </a:endParaRPr>
          </a:p>
          <a:p>
            <a:pPr marL="0" lvl="0" indent="0">
              <a:buNone/>
              <a:defRPr/>
            </a:pP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미니맵에서도 적을 지워줍니다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.</a:t>
            </a:r>
            <a:endParaRPr lang="en-US" altLang="ko-KR" sz="3600">
              <a:solidFill>
                <a:schemeClr val="bg1"/>
              </a:solidFill>
              <a:latin typeface="맑은 고딕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3"/>
          <a:srcRect l="9286" t="40000" r="67920" b="31111"/>
          <a:stretch>
            <a:fillRect/>
          </a:stretch>
        </p:blipFill>
        <p:spPr>
          <a:xfrm>
            <a:off x="5732053" y="3387607"/>
            <a:ext cx="5740400" cy="5527792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131819572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/>
          <p:cNvSpPr/>
          <p:nvPr/>
        </p:nvSpPr>
        <p:spPr>
          <a:xfrm>
            <a:off x="-2191890" y="-1457325"/>
            <a:ext cx="8172450" cy="8172450"/>
          </a:xfrm>
          <a:prstGeom prst="ellipse">
            <a:avLst/>
          </a:prstGeom>
          <a:noFill/>
          <a:ln w="6350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1350"/>
          </a:p>
        </p:txBody>
      </p:sp>
      <p:sp>
        <p:nvSpPr>
          <p:cNvPr id="11" name="타원 10"/>
          <p:cNvSpPr/>
          <p:nvPr/>
        </p:nvSpPr>
        <p:spPr>
          <a:xfrm>
            <a:off x="-1464569" y="-730004"/>
            <a:ext cx="6717807" cy="6717807"/>
          </a:xfrm>
          <a:prstGeom prst="ellipse">
            <a:avLst/>
          </a:prstGeom>
          <a:noFill/>
          <a:ln w="635000">
            <a:solidFill>
              <a:schemeClr val="bg1">
                <a:alpha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1350">
              <a:latin typeface="맑은 고딕"/>
            </a:endParaRPr>
          </a:p>
        </p:txBody>
      </p:sp>
      <p:sp>
        <p:nvSpPr>
          <p:cNvPr id="16" name="TextBox 4"/>
          <p:cNvSpPr txBox="1"/>
          <p:nvPr/>
        </p:nvSpPr>
        <p:spPr>
          <a:xfrm>
            <a:off x="-742952" y="2438400"/>
            <a:ext cx="6000752" cy="1371600"/>
          </a:xfrm>
          <a:prstGeom prst="rect">
            <a:avLst/>
          </a:prstGeom>
        </p:spPr>
        <p:txBody>
          <a:bodyPr anchor="ctr"/>
          <a:lstStyle/>
          <a:p>
            <a:pPr lvl="0" algn="ctr">
              <a:defRPr/>
            </a:pPr>
            <a:r>
              <a:rPr lang="ko-KR" altLang="en-US" sz="7200" spc="480">
                <a:solidFill>
                  <a:schemeClr val="bg1"/>
                </a:solidFill>
                <a:latin typeface="맑은 고딕"/>
              </a:rPr>
              <a:t>미니맵</a:t>
            </a:r>
            <a:endParaRPr lang="ko-KR" altLang="en-US" sz="7200" spc="480">
              <a:solidFill>
                <a:schemeClr val="bg1"/>
              </a:solidFill>
              <a:latin typeface="맑은 고딕"/>
            </a:endParaRPr>
          </a:p>
        </p:txBody>
      </p:sp>
      <p:sp>
        <p:nvSpPr>
          <p:cNvPr id="17" name="TextBox 4"/>
          <p:cNvSpPr txBox="1"/>
          <p:nvPr/>
        </p:nvSpPr>
        <p:spPr>
          <a:xfrm>
            <a:off x="628648" y="1227991"/>
            <a:ext cx="4171952" cy="1371600"/>
          </a:xfrm>
          <a:prstGeom prst="rect">
            <a:avLst/>
          </a:prstGeom>
        </p:spPr>
        <p:txBody>
          <a:bodyPr anchor="ctr"/>
          <a:lstStyle/>
          <a:p>
            <a:pPr lvl="0">
              <a:lnSpc>
                <a:spcPct val="191315"/>
              </a:lnSpc>
              <a:defRPr/>
            </a:pPr>
            <a:r>
              <a:rPr lang="ko-KR" altLang="en-US" sz="4000" spc="480">
                <a:solidFill>
                  <a:schemeClr val="bg1"/>
                </a:solidFill>
                <a:latin typeface="맑은 고딕"/>
              </a:rPr>
              <a:t>주요시스템</a:t>
            </a:r>
            <a:endParaRPr lang="ko-KR" altLang="en-US" sz="4000" spc="480">
              <a:solidFill>
                <a:schemeClr val="bg1"/>
              </a:solidFill>
              <a:latin typeface="맑은 고딕"/>
            </a:endParaRPr>
          </a:p>
          <a:p>
            <a:pPr lvl="0" algn="ctr">
              <a:lnSpc>
                <a:spcPct val="191315"/>
              </a:lnSpc>
              <a:defRPr/>
            </a:pPr>
            <a:endParaRPr lang="en" altLang="ko-KR" sz="7200" spc="48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23" name="TextBox 7"/>
          <p:cNvSpPr txBox="1"/>
          <p:nvPr/>
        </p:nvSpPr>
        <p:spPr>
          <a:xfrm>
            <a:off x="1524000" y="9448800"/>
            <a:ext cx="17983200" cy="1729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  <a:defRPr/>
            </a:pP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아이템을 탐지한 경우 맵에 형광색으로 표시합니다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.</a:t>
            </a:r>
            <a:endParaRPr lang="ko-KR" altLang="en-US" sz="3600">
              <a:solidFill>
                <a:schemeClr val="bg1"/>
              </a:solidFill>
              <a:latin typeface="맑은 고딕"/>
            </a:endParaRPr>
          </a:p>
          <a:p>
            <a:pPr marL="0" lvl="0" indent="0">
              <a:buNone/>
              <a:defRPr/>
            </a:pP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탐지 펄스가 끝나도 미니맵에서 지우지 않습니다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.</a:t>
            </a:r>
            <a:endParaRPr lang="ko-KR" altLang="en-US" sz="3600">
              <a:solidFill>
                <a:schemeClr val="bg1"/>
              </a:solidFill>
              <a:latin typeface="맑은 고딕"/>
            </a:endParaRPr>
          </a:p>
          <a:p>
            <a:pPr marL="0" lvl="0" indent="0">
              <a:buNone/>
              <a:defRPr/>
            </a:pP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해당 아이템을 사용시 미니맵에서 지워줍니다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.</a:t>
            </a: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 </a:t>
            </a:r>
            <a:endParaRPr lang="ko-KR" altLang="en-US" sz="3600">
              <a:solidFill>
                <a:schemeClr val="bg1"/>
              </a:solidFill>
              <a:latin typeface="맑은 고딕"/>
            </a:endParaRPr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2"/>
          <a:srcRect l="27413" t="59269" r="57921" b="14256"/>
          <a:stretch>
            <a:fillRect/>
          </a:stretch>
        </p:blipFill>
        <p:spPr>
          <a:xfrm>
            <a:off x="7848600" y="685800"/>
            <a:ext cx="7308851" cy="730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38003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/>
          <p:cNvSpPr/>
          <p:nvPr/>
        </p:nvSpPr>
        <p:spPr>
          <a:xfrm>
            <a:off x="-2191890" y="-1457325"/>
            <a:ext cx="8172450" cy="8172450"/>
          </a:xfrm>
          <a:prstGeom prst="ellipse">
            <a:avLst/>
          </a:prstGeom>
          <a:noFill/>
          <a:ln w="6350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1350"/>
          </a:p>
        </p:txBody>
      </p:sp>
      <p:sp>
        <p:nvSpPr>
          <p:cNvPr id="11" name="타원 10"/>
          <p:cNvSpPr/>
          <p:nvPr/>
        </p:nvSpPr>
        <p:spPr>
          <a:xfrm>
            <a:off x="-1464569" y="-730004"/>
            <a:ext cx="6717807" cy="6717807"/>
          </a:xfrm>
          <a:prstGeom prst="ellipse">
            <a:avLst/>
          </a:prstGeom>
          <a:noFill/>
          <a:ln w="635000">
            <a:solidFill>
              <a:schemeClr val="bg1">
                <a:alpha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1350">
              <a:latin typeface="맑은 고딕"/>
            </a:endParaRPr>
          </a:p>
        </p:txBody>
      </p:sp>
      <p:sp>
        <p:nvSpPr>
          <p:cNvPr id="16" name="TextBox 4"/>
          <p:cNvSpPr txBox="1"/>
          <p:nvPr/>
        </p:nvSpPr>
        <p:spPr>
          <a:xfrm>
            <a:off x="-742952" y="2438400"/>
            <a:ext cx="6000752" cy="1371600"/>
          </a:xfrm>
          <a:prstGeom prst="rect">
            <a:avLst/>
          </a:prstGeom>
        </p:spPr>
        <p:txBody>
          <a:bodyPr anchor="ctr"/>
          <a:lstStyle/>
          <a:p>
            <a:pPr lvl="0" algn="ctr">
              <a:defRPr/>
            </a:pPr>
            <a:r>
              <a:rPr lang="ko-KR" altLang="en-US" sz="7200" spc="480">
                <a:solidFill>
                  <a:schemeClr val="bg1"/>
                </a:solidFill>
                <a:latin typeface="맑은 고딕"/>
              </a:rPr>
              <a:t>미니맵</a:t>
            </a:r>
            <a:endParaRPr lang="ko-KR" altLang="en-US" sz="7200" spc="480">
              <a:solidFill>
                <a:schemeClr val="bg1"/>
              </a:solidFill>
              <a:latin typeface="맑은 고딕"/>
            </a:endParaRPr>
          </a:p>
        </p:txBody>
      </p:sp>
      <p:sp>
        <p:nvSpPr>
          <p:cNvPr id="17" name="TextBox 4"/>
          <p:cNvSpPr txBox="1"/>
          <p:nvPr/>
        </p:nvSpPr>
        <p:spPr>
          <a:xfrm>
            <a:off x="628648" y="1227991"/>
            <a:ext cx="4171952" cy="1371600"/>
          </a:xfrm>
          <a:prstGeom prst="rect">
            <a:avLst/>
          </a:prstGeom>
        </p:spPr>
        <p:txBody>
          <a:bodyPr anchor="ctr"/>
          <a:lstStyle/>
          <a:p>
            <a:pPr lvl="0">
              <a:lnSpc>
                <a:spcPct val="191315"/>
              </a:lnSpc>
              <a:defRPr/>
            </a:pPr>
            <a:r>
              <a:rPr lang="ko-KR" altLang="en-US" sz="4000" spc="480">
                <a:solidFill>
                  <a:schemeClr val="bg1"/>
                </a:solidFill>
                <a:latin typeface="맑은 고딕"/>
              </a:rPr>
              <a:t>주요시스템</a:t>
            </a:r>
            <a:endParaRPr lang="ko-KR" altLang="en-US" sz="4000" spc="480">
              <a:solidFill>
                <a:schemeClr val="bg1"/>
              </a:solidFill>
              <a:latin typeface="맑은 고딕"/>
            </a:endParaRPr>
          </a:p>
          <a:p>
            <a:pPr lvl="0" algn="ctr">
              <a:lnSpc>
                <a:spcPct val="191315"/>
              </a:lnSpc>
              <a:defRPr/>
            </a:pPr>
            <a:endParaRPr lang="en" altLang="ko-KR" sz="7200" spc="48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23" name="TextBox 7"/>
          <p:cNvSpPr txBox="1"/>
          <p:nvPr/>
        </p:nvSpPr>
        <p:spPr>
          <a:xfrm>
            <a:off x="914399" y="9319259"/>
            <a:ext cx="17983200" cy="1737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  <a:defRPr/>
            </a:pP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레버와 출구같은 오브젝트를 탐지한 경우 맵에 하늘색으로 표시해줍니다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.</a:t>
            </a:r>
            <a:endParaRPr lang="en-US" altLang="ko-KR" sz="3600">
              <a:solidFill>
                <a:schemeClr val="bg1"/>
              </a:solidFill>
              <a:latin typeface="맑은 고딕"/>
            </a:endParaRPr>
          </a:p>
          <a:p>
            <a:pPr marL="0" lvl="0" indent="0">
              <a:buNone/>
              <a:defRPr/>
            </a:pP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탐지 펄스가 끝나도 미니맵에서 지우지 않습니다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.</a:t>
            </a:r>
            <a:endParaRPr lang="en-US" altLang="ko-KR" sz="3600">
              <a:solidFill>
                <a:schemeClr val="bg1"/>
              </a:solidFill>
              <a:latin typeface="맑은 고딕"/>
            </a:endParaRPr>
          </a:p>
          <a:p>
            <a:pPr marL="0" lvl="0" indent="0">
              <a:buNone/>
              <a:defRPr/>
            </a:pP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오브젝트를 작동시켜도 미니맵에서 지우지 않습니다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.</a:t>
            </a:r>
            <a:endParaRPr lang="en-US" altLang="ko-KR" sz="3600">
              <a:solidFill>
                <a:schemeClr val="bg1"/>
              </a:solidFill>
              <a:latin typeface="맑은 고딕"/>
            </a:endParaRP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2"/>
          <a:srcRect l="14829" t="20635" r="46450" b="24744"/>
          <a:stretch>
            <a:fillRect/>
          </a:stretch>
        </p:blipFill>
        <p:spPr>
          <a:xfrm>
            <a:off x="6629400" y="1288712"/>
            <a:ext cx="7502524" cy="718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259135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/>
          <p:cNvSpPr/>
          <p:nvPr/>
        </p:nvSpPr>
        <p:spPr>
          <a:xfrm>
            <a:off x="-2191890" y="-1457325"/>
            <a:ext cx="8172450" cy="8172450"/>
          </a:xfrm>
          <a:prstGeom prst="ellipse">
            <a:avLst/>
          </a:prstGeom>
          <a:noFill/>
          <a:ln w="6350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1350"/>
          </a:p>
        </p:txBody>
      </p:sp>
      <p:sp>
        <p:nvSpPr>
          <p:cNvPr id="11" name="타원 10"/>
          <p:cNvSpPr/>
          <p:nvPr/>
        </p:nvSpPr>
        <p:spPr>
          <a:xfrm>
            <a:off x="-1464569" y="-730004"/>
            <a:ext cx="6717807" cy="6717807"/>
          </a:xfrm>
          <a:prstGeom prst="ellipse">
            <a:avLst/>
          </a:prstGeom>
          <a:noFill/>
          <a:ln w="635000">
            <a:solidFill>
              <a:schemeClr val="bg1">
                <a:alpha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1350">
              <a:latin typeface="맑은 고딕"/>
            </a:endParaRPr>
          </a:p>
        </p:txBody>
      </p:sp>
      <p:sp>
        <p:nvSpPr>
          <p:cNvPr id="16" name="TextBox 4"/>
          <p:cNvSpPr txBox="1"/>
          <p:nvPr/>
        </p:nvSpPr>
        <p:spPr>
          <a:xfrm>
            <a:off x="-742952" y="2438400"/>
            <a:ext cx="6000752" cy="1371600"/>
          </a:xfrm>
          <a:prstGeom prst="rect">
            <a:avLst/>
          </a:prstGeom>
        </p:spPr>
        <p:txBody>
          <a:bodyPr anchor="ctr"/>
          <a:lstStyle/>
          <a:p>
            <a:pPr lvl="0" algn="ctr">
              <a:defRPr/>
            </a:pPr>
            <a:r>
              <a:rPr lang="ko-KR" altLang="en-US" sz="7200" spc="480">
                <a:solidFill>
                  <a:schemeClr val="bg1"/>
                </a:solidFill>
                <a:latin typeface="맑은 고딕"/>
              </a:rPr>
              <a:t>미니맵</a:t>
            </a:r>
            <a:endParaRPr lang="ko-KR" altLang="en-US" sz="7200" spc="480">
              <a:solidFill>
                <a:schemeClr val="bg1"/>
              </a:solidFill>
              <a:latin typeface="맑은 고딕"/>
            </a:endParaRPr>
          </a:p>
        </p:txBody>
      </p:sp>
      <p:sp>
        <p:nvSpPr>
          <p:cNvPr id="17" name="TextBox 4"/>
          <p:cNvSpPr txBox="1"/>
          <p:nvPr/>
        </p:nvSpPr>
        <p:spPr>
          <a:xfrm>
            <a:off x="628648" y="1227991"/>
            <a:ext cx="4171952" cy="1371600"/>
          </a:xfrm>
          <a:prstGeom prst="rect">
            <a:avLst/>
          </a:prstGeom>
        </p:spPr>
        <p:txBody>
          <a:bodyPr anchor="ctr"/>
          <a:lstStyle/>
          <a:p>
            <a:pPr lvl="0">
              <a:lnSpc>
                <a:spcPct val="191315"/>
              </a:lnSpc>
              <a:defRPr/>
            </a:pPr>
            <a:r>
              <a:rPr lang="ko-KR" altLang="en-US" sz="4000" spc="480">
                <a:solidFill>
                  <a:schemeClr val="bg1"/>
                </a:solidFill>
                <a:latin typeface="맑은 고딕"/>
              </a:rPr>
              <a:t>주요시스템</a:t>
            </a:r>
            <a:endParaRPr lang="ko-KR" altLang="en-US" sz="4000" spc="480">
              <a:solidFill>
                <a:schemeClr val="bg1"/>
              </a:solidFill>
              <a:latin typeface="맑은 고딕"/>
            </a:endParaRPr>
          </a:p>
          <a:p>
            <a:pPr lvl="0" algn="ctr">
              <a:lnSpc>
                <a:spcPct val="191315"/>
              </a:lnSpc>
              <a:defRPr/>
            </a:pPr>
            <a:endParaRPr lang="en" altLang="ko-KR" sz="7200" spc="48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rcRect l="26394" t="54521" r="57770" b="15591"/>
          <a:stretch>
            <a:fillRect/>
          </a:stretch>
        </p:blipFill>
        <p:spPr>
          <a:xfrm>
            <a:off x="7274998" y="805478"/>
            <a:ext cx="7888802" cy="8414722"/>
          </a:xfrm>
          <a:prstGeom prst="rect">
            <a:avLst/>
          </a:prstGeom>
          <a:ln w="57150">
            <a:solidFill>
              <a:schemeClr val="bg1"/>
            </a:solidFill>
          </a:ln>
        </p:spPr>
      </p:pic>
      <p:sp>
        <p:nvSpPr>
          <p:cNvPr id="23" name="TextBox 7"/>
          <p:cNvSpPr txBox="1"/>
          <p:nvPr/>
        </p:nvSpPr>
        <p:spPr>
          <a:xfrm>
            <a:off x="304800" y="9829800"/>
            <a:ext cx="17983200" cy="636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  <a:defRPr/>
            </a:pP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펄스탐지기로 탐지한 지형과 오브젝트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,</a:t>
            </a: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 적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,</a:t>
            </a:r>
            <a:r>
              <a:rPr lang="ko-KR" altLang="en-US" sz="3600">
                <a:solidFill>
                  <a:schemeClr val="bg1"/>
                </a:solidFill>
                <a:latin typeface="맑은 고딕"/>
              </a:rPr>
              <a:t> 아이템을 미니맵 형식으로 표시해줍니다</a:t>
            </a:r>
            <a:r>
              <a:rPr lang="en-US" altLang="ko-KR" sz="3600">
                <a:solidFill>
                  <a:schemeClr val="bg1"/>
                </a:solidFill>
                <a:latin typeface="맑은 고딕"/>
              </a:rPr>
              <a:t>.</a:t>
            </a:r>
            <a:endParaRPr lang="en-US" altLang="ko-KR" sz="3600">
              <a:solidFill>
                <a:schemeClr val="bg1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18008282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57900" y="3648075"/>
            <a:ext cx="6172200" cy="64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3">
            <a:alphaModFix amt="75000"/>
          </a:blip>
          <a:stretch>
            <a:fillRect/>
          </a:stretch>
        </p:blipFill>
        <p:spPr>
          <a:xfrm>
            <a:off x="-1543050" y="581025"/>
            <a:ext cx="5553075" cy="5953125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4">
            <a:alphaModFix amt="75000"/>
          </a:blip>
          <a:stretch>
            <a:fillRect/>
          </a:stretch>
        </p:blipFill>
        <p:spPr>
          <a:xfrm>
            <a:off x="14192250" y="838200"/>
            <a:ext cx="9810750" cy="991552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5">
            <a:alphaModFix amt="75000"/>
          </a:blip>
          <a:stretch>
            <a:fillRect/>
          </a:stretch>
        </p:blipFill>
        <p:spPr>
          <a:xfrm>
            <a:off x="-542925" y="8629650"/>
            <a:ext cx="4057650" cy="39909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76085" y="6072485"/>
            <a:ext cx="5078730" cy="11836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lvl="0" algn="ctr">
              <a:defRPr/>
            </a:pPr>
            <a:r>
              <a:rPr lang="ko-KR" altLang="en-US" sz="7200">
                <a:solidFill>
                  <a:schemeClr val="bg1"/>
                </a:solidFill>
                <a:latin typeface="양재블럭체"/>
                <a:ea typeface="양재블럭체"/>
              </a:rPr>
              <a:t>감사합니다</a:t>
            </a:r>
            <a:r>
              <a:rPr lang="en-US" altLang="ko-KR" sz="7200">
                <a:solidFill>
                  <a:schemeClr val="bg1"/>
                </a:solidFill>
                <a:latin typeface="양재블럭체"/>
                <a:ea typeface="양재블럭체"/>
              </a:rPr>
              <a:t>!</a:t>
            </a:r>
            <a:endParaRPr lang="en-US" altLang="ko-KR" sz="7200">
              <a:solidFill>
                <a:schemeClr val="bg1"/>
              </a:solidFill>
              <a:latin typeface="양재블럭체"/>
              <a:ea typeface="양재블럭체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18722" y="10752680"/>
            <a:ext cx="2050562" cy="92333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lvl="0" algn="ctr">
              <a:defRPr/>
            </a:pPr>
            <a:r>
              <a:rPr lang="ko-KR" altLang="en-US">
                <a:solidFill>
                  <a:schemeClr val="bg1"/>
                </a:solidFill>
                <a:latin typeface="휴먼고딕"/>
                <a:ea typeface="휴먼고딕"/>
              </a:rPr>
              <a:t>장태훈</a:t>
            </a:r>
            <a:endParaRPr lang="ko-KR" altLang="en-US">
              <a:solidFill>
                <a:schemeClr val="bg1"/>
              </a:solidFill>
              <a:latin typeface="휴먼고딕"/>
              <a:ea typeface="휴먼고딕"/>
            </a:endParaRPr>
          </a:p>
          <a:p>
            <a:pPr lvl="0" algn="ctr">
              <a:defRPr/>
            </a:pPr>
            <a:r>
              <a:rPr lang="en-US" altLang="ko-KR">
                <a:solidFill>
                  <a:schemeClr val="bg1"/>
                </a:solidFill>
                <a:latin typeface="휴먼고딕"/>
                <a:ea typeface="휴먼고딕"/>
              </a:rPr>
              <a:t>jth7296@gmail.com</a:t>
            </a:r>
            <a:endParaRPr lang="en-US" altLang="ko-KR">
              <a:solidFill>
                <a:schemeClr val="bg1"/>
              </a:solidFill>
              <a:latin typeface="휴먼고딕"/>
              <a:ea typeface="휴먼고딕"/>
            </a:endParaRPr>
          </a:p>
          <a:p>
            <a:pPr lvl="0" algn="ctr">
              <a:defRPr/>
            </a:pPr>
            <a:r>
              <a:rPr lang="en-US" altLang="ko-KR">
                <a:solidFill>
                  <a:schemeClr val="bg1"/>
                </a:solidFill>
                <a:latin typeface="휴먼고딕"/>
                <a:ea typeface="휴먼고딕"/>
              </a:rPr>
              <a:t>010-5760-4245</a:t>
            </a:r>
            <a:endParaRPr lang="ko-KR" altLang="en-US">
              <a:solidFill>
                <a:schemeClr val="bg1"/>
              </a:solidFill>
              <a:latin typeface="휴먼고딕"/>
              <a:ea typeface="휴먼고딕"/>
            </a:endParaRPr>
          </a:p>
        </p:txBody>
      </p:sp>
    </p:spTree>
    <p:extLst>
      <p:ext uri="{BB962C8B-B14F-4D97-AF65-F5344CB8AC3E}">
        <p14:creationId xmlns:p14="http://schemas.microsoft.com/office/powerpoint/2010/main" val="50712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173</ep:Words>
  <ep:PresentationFormat>사용자 지정</ep:PresentationFormat>
  <ep:Paragraphs>94</ep:Paragraphs>
  <ep:Slides>13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ep:HeadingPairs>
  <ep:TitlesOfParts>
    <vt:vector size="14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dc:creator>admin</dc:creator>
  <cp:lastModifiedBy>Super Rendering</cp:lastModifiedBy>
  <dcterms:modified xsi:type="dcterms:W3CDTF">2026-01-07T21:46:22.821</dcterms:modified>
  <cp:revision>79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